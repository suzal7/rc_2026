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mpact" charset="1" panose="020B0806030902050204"/>
      <p:regular r:id="rId14"/>
    </p:embeddedFont>
    <p:embeddedFont>
      <p:font typeface="Poppins" charset="1" panose="00000500000000000000"/>
      <p:regular r:id="rId15"/>
    </p:embeddedFont>
    <p:embeddedFont>
      <p:font typeface="Canva Sans" charset="1" panose="020B0503030501040103"/>
      <p:regular r:id="rId16"/>
    </p:embeddedFon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  <p:embeddedFont>
      <p:font typeface="Anton" charset="1" panose="00000500000000000000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4785" y="1120395"/>
            <a:ext cx="13706124" cy="525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8"/>
              </a:lnSpc>
            </a:pPr>
            <a:r>
              <a:rPr lang="en-US" b="true" sz="1425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 NOSSA ESCOLA É REDE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8797" y="6265582"/>
            <a:ext cx="5318100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16641" y="3304523"/>
            <a:ext cx="6342659" cy="4114800"/>
          </a:xfrm>
          <a:custGeom>
            <a:avLst/>
            <a:gdLst/>
            <a:ahLst/>
            <a:cxnLst/>
            <a:rect r="r" b="b" t="t" l="l"/>
            <a:pathLst>
              <a:path h="4114800" w="6342659">
                <a:moveTo>
                  <a:pt x="0" y="0"/>
                </a:moveTo>
                <a:lnTo>
                  <a:pt x="6342659" y="0"/>
                </a:lnTo>
                <a:lnTo>
                  <a:pt x="6342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9882" y="885825"/>
            <a:ext cx="7844118" cy="353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993"/>
              </a:lnSpc>
            </a:pPr>
            <a:r>
              <a:rPr lang="en-US" sz="1149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UTILIZADORES</a:t>
            </a:r>
          </a:p>
          <a:p>
            <a:pPr algn="just">
              <a:lnSpc>
                <a:spcPts val="1299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82310" y="3877310"/>
            <a:ext cx="8613848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Alunos → usam a internet, entregam trabalhos e imprimem documentos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Professores → partilham materiais e gerem as aulas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Funcionários → utilizam sistemas administrativos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Técnicos de informática → mantêm e reparam a rede informática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2226" y="7854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2226" y="5208935"/>
            <a:ext cx="4224040" cy="4904546"/>
          </a:xfrm>
          <a:custGeom>
            <a:avLst/>
            <a:gdLst/>
            <a:ahLst/>
            <a:cxnLst/>
            <a:rect r="r" b="b" t="t" l="l"/>
            <a:pathLst>
              <a:path h="4904546" w="4224040">
                <a:moveTo>
                  <a:pt x="0" y="0"/>
                </a:moveTo>
                <a:lnTo>
                  <a:pt x="4224040" y="0"/>
                </a:lnTo>
                <a:lnTo>
                  <a:pt x="4224040" y="4904546"/>
                </a:lnTo>
                <a:lnTo>
                  <a:pt x="0" y="4904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29585" y="895350"/>
            <a:ext cx="10770852" cy="164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21"/>
              </a:lnSpc>
            </a:pPr>
            <a:r>
              <a:rPr lang="en-US" sz="993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SEGURANÇA DA REDE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28529" y="2734820"/>
            <a:ext cx="8830771" cy="65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562" indent="-363781" lvl="1">
              <a:lnSpc>
                <a:spcPts val="4717"/>
              </a:lnSpc>
              <a:buAutoNum type="arabicPeriod" startAt="1"/>
            </a:pP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Palavras-passe fortes → tornam as contas mais difíceis de invadir.</a:t>
            </a:r>
          </a:p>
          <a:p>
            <a:pPr algn="l">
              <a:lnSpc>
                <a:spcPts val="4717"/>
              </a:lnSpc>
            </a:pP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2.</a:t>
            </a: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Login de utilizador (autenticação) → confirma a identidade do utilizador.</a:t>
            </a:r>
          </a:p>
          <a:p>
            <a:pPr algn="l">
              <a:lnSpc>
                <a:spcPts val="4717"/>
              </a:lnSpc>
            </a:pP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3.</a:t>
            </a: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Firewalls → bloqueiam acessos perigosos ou não autorizados.</a:t>
            </a:r>
          </a:p>
          <a:p>
            <a:pPr algn="l">
              <a:lnSpc>
                <a:spcPts val="4717"/>
              </a:lnSpc>
            </a:pPr>
          </a:p>
          <a:p>
            <a:pPr algn="l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4.</a:t>
            </a:r>
            <a:r>
              <a:rPr lang="en-US" sz="336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Não partilhar palavras-passe → mantém as contas seguras e privadas.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2368" y="771430"/>
            <a:ext cx="2379848" cy="2165185"/>
          </a:xfrm>
          <a:custGeom>
            <a:avLst/>
            <a:gdLst/>
            <a:ahLst/>
            <a:cxnLst/>
            <a:rect r="r" b="b" t="t" l="l"/>
            <a:pathLst>
              <a:path h="2165185" w="2379848">
                <a:moveTo>
                  <a:pt x="0" y="0"/>
                </a:moveTo>
                <a:lnTo>
                  <a:pt x="2379848" y="0"/>
                </a:lnTo>
                <a:lnTo>
                  <a:pt x="2379848" y="2165185"/>
                </a:lnTo>
                <a:lnTo>
                  <a:pt x="0" y="2165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56" t="-2490" r="-156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9030" y="4066180"/>
            <a:ext cx="2533121" cy="2146820"/>
          </a:xfrm>
          <a:custGeom>
            <a:avLst/>
            <a:gdLst/>
            <a:ahLst/>
            <a:cxnLst/>
            <a:rect r="r" b="b" t="t" l="l"/>
            <a:pathLst>
              <a:path h="2146820" w="2533121">
                <a:moveTo>
                  <a:pt x="0" y="0"/>
                </a:moveTo>
                <a:lnTo>
                  <a:pt x="2533121" y="0"/>
                </a:lnTo>
                <a:lnTo>
                  <a:pt x="2533121" y="2146820"/>
                </a:lnTo>
                <a:lnTo>
                  <a:pt x="0" y="2146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6024" y="7120460"/>
            <a:ext cx="2712178" cy="2357616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5981133" y="7005554"/>
            <a:ext cx="2861951" cy="286195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588439" y="7152685"/>
            <a:ext cx="1816286" cy="2591390"/>
          </a:xfrm>
          <a:custGeom>
            <a:avLst/>
            <a:gdLst/>
            <a:ahLst/>
            <a:cxnLst/>
            <a:rect r="r" b="b" t="t" l="l"/>
            <a:pathLst>
              <a:path h="2591390" w="1816286">
                <a:moveTo>
                  <a:pt x="0" y="0"/>
                </a:moveTo>
                <a:lnTo>
                  <a:pt x="1816286" y="0"/>
                </a:lnTo>
                <a:lnTo>
                  <a:pt x="1816286" y="2591390"/>
                </a:lnTo>
                <a:lnTo>
                  <a:pt x="0" y="25913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501" r="0" b="-250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57138" y="409575"/>
            <a:ext cx="6640906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RECURSOS</a:t>
            </a:r>
          </a:p>
          <a:p>
            <a:pPr algn="ctr">
              <a:lnSpc>
                <a:spcPts val="110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549211" y="1929220"/>
            <a:ext cx="8778573" cy="49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719" indent="-304860" lvl="1">
              <a:lnSpc>
                <a:spcPts val="3953"/>
              </a:lnSpc>
              <a:buAutoNum type="arabicPeriod" startAt="1"/>
            </a:pPr>
            <a:r>
              <a:rPr lang="en-US" sz="2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Impressoras → permitem imprimir documentos.</a:t>
            </a:r>
          </a:p>
          <a:p>
            <a:pPr algn="l" marL="609719" indent="-304860" lvl="1">
              <a:lnSpc>
                <a:spcPts val="3953"/>
              </a:lnSpc>
              <a:buAutoNum type="arabicPeriod" startAt="1"/>
            </a:pPr>
            <a:r>
              <a:rPr lang="en-US" sz="2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Acesso à internet → permite pesquisar e comunicar online. </a:t>
            </a:r>
          </a:p>
          <a:p>
            <a:pPr algn="l" marL="609719" indent="-304860" lvl="1">
              <a:lnSpc>
                <a:spcPts val="3953"/>
              </a:lnSpc>
              <a:buAutoNum type="arabicPeriod" startAt="1"/>
            </a:pPr>
            <a:r>
              <a:rPr lang="en-US" sz="2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Ficheiros (pastas partilhadas) → facilitam a partilha de documentos.</a:t>
            </a:r>
          </a:p>
          <a:p>
            <a:pPr algn="l" marL="609719" indent="-304860" lvl="1">
              <a:lnSpc>
                <a:spcPts val="3953"/>
              </a:lnSpc>
              <a:buAutoNum type="arabicPeriod" startAt="1"/>
            </a:pPr>
            <a:r>
              <a:rPr lang="en-US" sz="2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Plataformas escolares (ex: Moodle, Google Classroom) → ajudam nas aulas e nos trabalhos.</a:t>
            </a:r>
          </a:p>
          <a:p>
            <a:pPr algn="l" marL="609719" indent="-304860" lvl="1">
              <a:lnSpc>
                <a:spcPts val="3953"/>
              </a:lnSpc>
              <a:buAutoNum type="arabicPeriod" startAt="1"/>
            </a:pPr>
            <a:r>
              <a:rPr lang="en-US" sz="2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Computadores/servidores → armazenam e gerem informações da rede.</a:t>
            </a:r>
          </a:p>
          <a:p>
            <a:pPr algn="l">
              <a:lnSpc>
                <a:spcPts val="395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34650" y="-61189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903" y="1914677"/>
            <a:ext cx="3406396" cy="3176464"/>
          </a:xfrm>
          <a:custGeom>
            <a:avLst/>
            <a:gdLst/>
            <a:ahLst/>
            <a:cxnLst/>
            <a:rect r="r" b="b" t="t" l="l"/>
            <a:pathLst>
              <a:path h="3176464" w="3406396">
                <a:moveTo>
                  <a:pt x="0" y="0"/>
                </a:moveTo>
                <a:lnTo>
                  <a:pt x="3406395" y="0"/>
                </a:lnTo>
                <a:lnTo>
                  <a:pt x="3406395" y="3176464"/>
                </a:lnTo>
                <a:lnTo>
                  <a:pt x="0" y="3176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7263" y="6150640"/>
            <a:ext cx="3045675" cy="2532389"/>
          </a:xfrm>
          <a:custGeom>
            <a:avLst/>
            <a:gdLst/>
            <a:ahLst/>
            <a:cxnLst/>
            <a:rect r="r" b="b" t="t" l="l"/>
            <a:pathLst>
              <a:path h="2532389" w="3045675">
                <a:moveTo>
                  <a:pt x="0" y="0"/>
                </a:moveTo>
                <a:lnTo>
                  <a:pt x="3045675" y="0"/>
                </a:lnTo>
                <a:lnTo>
                  <a:pt x="3045675" y="2532389"/>
                </a:lnTo>
                <a:lnTo>
                  <a:pt x="0" y="25323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76" t="-3047" r="-107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31344" y="1905304"/>
            <a:ext cx="9113231" cy="377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8365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⚠️ PROBLEMAS &amp; SOLUÇÕES</a:t>
            </a:r>
          </a:p>
          <a:p>
            <a:pPr algn="ctr">
              <a:lnSpc>
                <a:spcPts val="945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214885" y="4533455"/>
            <a:ext cx="9885395" cy="433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sz="3573" b="true">
                <a:solidFill>
                  <a:srgbClr val="FAF9FB"/>
                </a:solidFill>
                <a:latin typeface="Arimo Bold"/>
                <a:ea typeface="Arimo Bold"/>
                <a:cs typeface="Arimo Bold"/>
                <a:sym typeface="Arimo Bold"/>
              </a:rPr>
              <a:t>100 pessoas a imprimir ao mesmo tempo</a:t>
            </a:r>
          </a:p>
          <a:p>
            <a:pPr algn="l">
              <a:lnSpc>
                <a:spcPts val="5002"/>
              </a:lnSpc>
            </a:pPr>
            <a:r>
              <a:rPr lang="en-US" sz="3573" b="true">
                <a:solidFill>
                  <a:srgbClr val="FAF9FB"/>
                </a:solidFill>
                <a:latin typeface="Arimo Bold"/>
                <a:ea typeface="Arimo Bold"/>
                <a:cs typeface="Arimo Bold"/>
                <a:sym typeface="Arimo Bold"/>
              </a:rPr>
              <a:t>Problema:</a:t>
            </a:r>
            <a:r>
              <a:rPr lang="en-US" sz="3573">
                <a:solidFill>
                  <a:srgbClr val="FAF9FB"/>
                </a:solidFill>
                <a:latin typeface="Arimo"/>
                <a:ea typeface="Arimo"/>
                <a:cs typeface="Arimo"/>
                <a:sym typeface="Arimo"/>
              </a:rPr>
              <a:t> a impressora fica lenta ou bloqueia</a:t>
            </a:r>
          </a:p>
          <a:p>
            <a:pPr algn="l">
              <a:lnSpc>
                <a:spcPts val="5002"/>
              </a:lnSpc>
            </a:pPr>
            <a:r>
              <a:rPr lang="en-US" sz="3573" b="true">
                <a:solidFill>
                  <a:srgbClr val="FAF9FB"/>
                </a:solidFill>
                <a:latin typeface="Arimo Bold"/>
                <a:ea typeface="Arimo Bold"/>
                <a:cs typeface="Arimo Bold"/>
                <a:sym typeface="Arimo Bold"/>
              </a:rPr>
              <a:t>Soluções:</a:t>
            </a:r>
          </a:p>
          <a:p>
            <a:pPr algn="l" marL="771444" indent="-385722" lvl="1">
              <a:lnSpc>
                <a:spcPts val="5002"/>
              </a:lnSpc>
              <a:buFont typeface="Arial"/>
              <a:buChar char="•"/>
            </a:pPr>
            <a:r>
              <a:rPr lang="en-US" sz="3573">
                <a:solidFill>
                  <a:srgbClr val="FAF9FB"/>
                </a:solidFill>
                <a:latin typeface="Arimo"/>
                <a:ea typeface="Arimo"/>
                <a:cs typeface="Arimo"/>
                <a:sym typeface="Arimo"/>
              </a:rPr>
              <a:t>Fila de impressão (print queue)</a:t>
            </a:r>
          </a:p>
          <a:p>
            <a:pPr algn="l" marL="771444" indent="-385722" lvl="1">
              <a:lnSpc>
                <a:spcPts val="5002"/>
              </a:lnSpc>
              <a:buFont typeface="Arial"/>
              <a:buChar char="•"/>
            </a:pPr>
            <a:r>
              <a:rPr lang="en-US" sz="3573">
                <a:solidFill>
                  <a:srgbClr val="FAF9FB"/>
                </a:solidFill>
                <a:latin typeface="Arimo"/>
                <a:ea typeface="Arimo"/>
                <a:cs typeface="Arimo"/>
                <a:sym typeface="Arimo"/>
              </a:rPr>
              <a:t>Limitar número de impressões</a:t>
            </a:r>
          </a:p>
          <a:p>
            <a:pPr algn="l" marL="771444" indent="-385722" lvl="1">
              <a:lnSpc>
                <a:spcPts val="5002"/>
              </a:lnSpc>
              <a:buFont typeface="Arial"/>
              <a:buChar char="•"/>
            </a:pPr>
            <a:r>
              <a:rPr lang="en-US" sz="3573">
                <a:solidFill>
                  <a:srgbClr val="FAF9FB"/>
                </a:solidFill>
                <a:latin typeface="Arimo"/>
                <a:ea typeface="Arimo"/>
                <a:cs typeface="Arimo"/>
                <a:sym typeface="Arimo"/>
              </a:rPr>
              <a:t>Ter várias impressoras</a:t>
            </a:r>
          </a:p>
          <a:p>
            <a:pPr algn="l">
              <a:lnSpc>
                <a:spcPts val="5002"/>
              </a:lnSpc>
            </a:pPr>
          </a:p>
        </p:txBody>
      </p:sp>
      <p:sp>
        <p:nvSpPr>
          <p:cNvPr name="AutoShape 8" id="8"/>
          <p:cNvSpPr/>
          <p:nvPr/>
        </p:nvSpPr>
        <p:spPr>
          <a:xfrm flipV="true">
            <a:off x="5060757" y="7159725"/>
            <a:ext cx="2154128" cy="74114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5368396" y="4220685"/>
            <a:ext cx="1560475" cy="7412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50501" y="2011184"/>
            <a:ext cx="2885646" cy="3132316"/>
          </a:xfrm>
          <a:custGeom>
            <a:avLst/>
            <a:gdLst/>
            <a:ahLst/>
            <a:cxnLst/>
            <a:rect r="r" b="b" t="t" l="l"/>
            <a:pathLst>
              <a:path h="3132316" w="2885646">
                <a:moveTo>
                  <a:pt x="0" y="0"/>
                </a:moveTo>
                <a:lnTo>
                  <a:pt x="2885646" y="0"/>
                </a:lnTo>
                <a:lnTo>
                  <a:pt x="2885646" y="3132316"/>
                </a:lnTo>
                <a:lnTo>
                  <a:pt x="0" y="313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10925" y="6163737"/>
            <a:ext cx="2525222" cy="2247447"/>
          </a:xfrm>
          <a:custGeom>
            <a:avLst/>
            <a:gdLst/>
            <a:ahLst/>
            <a:cxnLst/>
            <a:rect r="r" b="b" t="t" l="l"/>
            <a:pathLst>
              <a:path h="2247447" w="2525222">
                <a:moveTo>
                  <a:pt x="0" y="0"/>
                </a:moveTo>
                <a:lnTo>
                  <a:pt x="2525222" y="0"/>
                </a:lnTo>
                <a:lnTo>
                  <a:pt x="2525222" y="2247448"/>
                </a:lnTo>
                <a:lnTo>
                  <a:pt x="0" y="2247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87679" y="-561760"/>
            <a:ext cx="19463357" cy="10948139"/>
          </a:xfrm>
          <a:custGeom>
            <a:avLst/>
            <a:gdLst/>
            <a:ahLst/>
            <a:cxnLst/>
            <a:rect r="r" b="b" t="t" l="l"/>
            <a:pathLst>
              <a:path h="10948139" w="19463357">
                <a:moveTo>
                  <a:pt x="0" y="0"/>
                </a:moveTo>
                <a:lnTo>
                  <a:pt x="19463358" y="0"/>
                </a:lnTo>
                <a:lnTo>
                  <a:pt x="19463358" y="10948138"/>
                </a:lnTo>
                <a:lnTo>
                  <a:pt x="0" y="109481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80924" y="895350"/>
            <a:ext cx="6640906" cy="439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🔑 SENHA ROUBADA</a:t>
            </a:r>
          </a:p>
          <a:p>
            <a:pPr algn="ctr">
              <a:lnSpc>
                <a:spcPts val="11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89729" y="4039768"/>
            <a:ext cx="9532756" cy="380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3"/>
              </a:lnSpc>
            </a:pPr>
            <a:r>
              <a:rPr lang="en-US" sz="36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Problema: acesso indevido à conta</a:t>
            </a:r>
          </a:p>
          <a:p>
            <a:pPr algn="ctr">
              <a:lnSpc>
                <a:spcPts val="5063"/>
              </a:lnSpc>
            </a:pPr>
            <a:r>
              <a:rPr lang="en-US" sz="36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Soluções:</a:t>
            </a:r>
          </a:p>
          <a:p>
            <a:pPr algn="ctr" marL="780875" indent="-390438" lvl="1">
              <a:lnSpc>
                <a:spcPts val="5063"/>
              </a:lnSpc>
              <a:buFont typeface="Arial"/>
              <a:buChar char="•"/>
            </a:pPr>
            <a:r>
              <a:rPr lang="en-US" sz="36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Trocar password imediatamente</a:t>
            </a:r>
          </a:p>
          <a:p>
            <a:pPr algn="ctr" marL="780875" indent="-390438" lvl="1">
              <a:lnSpc>
                <a:spcPts val="5063"/>
              </a:lnSpc>
              <a:buFont typeface="Arial"/>
              <a:buChar char="•"/>
            </a:pPr>
            <a:r>
              <a:rPr lang="en-US" sz="36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Usar autenticação em dois fatores (2FA)</a:t>
            </a:r>
          </a:p>
          <a:p>
            <a:pPr algn="ctr" marL="780875" indent="-390438" lvl="1">
              <a:lnSpc>
                <a:spcPts val="5063"/>
              </a:lnSpc>
              <a:buFont typeface="Arial"/>
              <a:buChar char="•"/>
            </a:pPr>
            <a:r>
              <a:rPr lang="en-US" sz="36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Não partilhar senhas</a:t>
            </a:r>
          </a:p>
          <a:p>
            <a:pPr algn="ctr">
              <a:lnSpc>
                <a:spcPts val="506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751200" y="6640071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653509" y="621042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84310" y="-833428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03553" y="7366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00087" y="5358537"/>
            <a:ext cx="4064044" cy="2240304"/>
          </a:xfrm>
          <a:custGeom>
            <a:avLst/>
            <a:gdLst/>
            <a:ahLst/>
            <a:cxnLst/>
            <a:rect r="r" b="b" t="t" l="l"/>
            <a:pathLst>
              <a:path h="2240304" w="4064044">
                <a:moveTo>
                  <a:pt x="0" y="0"/>
                </a:moveTo>
                <a:lnTo>
                  <a:pt x="4064044" y="0"/>
                </a:lnTo>
                <a:lnTo>
                  <a:pt x="4064044" y="2240305"/>
                </a:lnTo>
                <a:lnTo>
                  <a:pt x="0" y="2240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40238" y="914400"/>
            <a:ext cx="7619062" cy="393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4"/>
              </a:lnSpc>
            </a:pPr>
            <a:r>
              <a:rPr lang="en-US" sz="873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SENHA 🌐 INTERNET LENTA</a:t>
            </a:r>
          </a:p>
          <a:p>
            <a:pPr algn="ctr">
              <a:lnSpc>
                <a:spcPts val="987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612948"/>
            <a:ext cx="7874932" cy="4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1"/>
              </a:lnSpc>
            </a:pP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Problema: re</a:t>
            </a: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 congestionada</a:t>
            </a:r>
          </a:p>
          <a:p>
            <a:pPr algn="ctr">
              <a:lnSpc>
                <a:spcPts val="5121"/>
              </a:lnSpc>
            </a:pP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Soluções:</a:t>
            </a:r>
          </a:p>
          <a:p>
            <a:pPr algn="ctr" marL="789745" indent="-394872" lvl="1">
              <a:lnSpc>
                <a:spcPts val="5121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Limitar downloads pesados</a:t>
            </a:r>
          </a:p>
          <a:p>
            <a:pPr algn="ctr" marL="789745" indent="-394872" lvl="1">
              <a:lnSpc>
                <a:spcPts val="5121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Melhorar largura de banda</a:t>
            </a:r>
          </a:p>
          <a:p>
            <a:pPr algn="ctr" marL="789745" indent="-394872" lvl="1">
              <a:lnSpc>
                <a:spcPts val="5121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Usar routers/switches melhores</a:t>
            </a:r>
          </a:p>
          <a:p>
            <a:pPr algn="ctr" marL="789745" indent="-394872" lvl="1">
              <a:lnSpc>
                <a:spcPts val="5121"/>
              </a:lnSpc>
              <a:buFont typeface="Arial"/>
              <a:buChar char="•"/>
            </a:pPr>
            <a:r>
              <a:rPr lang="en-US" sz="3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Priorizar tráfego importante</a:t>
            </a:r>
          </a:p>
          <a:p>
            <a:pPr algn="ctr">
              <a:lnSpc>
                <a:spcPts val="512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02147" y="6367249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72" y="3726507"/>
            <a:ext cx="14319257" cy="254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OBRIGADO!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81708" y="8126191"/>
            <a:ext cx="5443840" cy="146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Pukar</a:t>
            </a:r>
          </a:p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Suzal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DAHI5WA6B8Q</dc:identifier>
  <dcterms:modified xsi:type="dcterms:W3CDTF">2011-08-01T06:04:30Z</dcterms:modified>
  <cp:revision>1</cp:revision>
  <dc:title>Black and White Modern Tech Company Presentation</dc:title>
</cp:coreProperties>
</file>