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Impact" charset="1" panose="020B0806030902050204"/>
      <p:regular r:id="rId14"/>
    </p:embeddedFont>
    <p:embeddedFont>
      <p:font typeface="Poppins" charset="1" panose="00000500000000000000"/>
      <p:regular r:id="rId15"/>
    </p:embeddedFont>
    <p:embeddedFont>
      <p:font typeface="Canva Sans" charset="1" panose="020B0503030501040103"/>
      <p:regular r:id="rId16"/>
    </p:embeddedFont>
    <p:embeddedFont>
      <p:font typeface="Arimo Bold" charset="1" panose="020B0704020202020204"/>
      <p:regular r:id="rId17"/>
    </p:embeddedFont>
    <p:embeddedFont>
      <p:font typeface="Arimo" charset="1" panose="020B0604020202020204"/>
      <p:regular r:id="rId18"/>
    </p:embeddedFont>
    <p:embeddedFont>
      <p:font typeface="Anton" charset="1" panose="00000500000000000000"/>
      <p:regular r:id="rId19"/>
    </p:embeddedFont>
    <p:embeddedFont>
      <p:font typeface="Canva Sans Bold" charset="1" panose="020B0803030501040103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8.pn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14.png" Type="http://schemas.openxmlformats.org/officeDocument/2006/relationships/image"/><Relationship Id="rId7" Target="../media/image15.png" Type="http://schemas.openxmlformats.org/officeDocument/2006/relationships/image"/><Relationship Id="rId8" Target="../media/image16.png" Type="http://schemas.openxmlformats.org/officeDocument/2006/relationships/image"/><Relationship Id="rId9" Target="../media/image17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Relationship Id="rId8" Target="../media/image2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24.png" Type="http://schemas.openxmlformats.org/officeDocument/2006/relationships/image"/><Relationship Id="rId5" Target="../media/image25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Relationship Id="rId8" Target="../media/image28.png" Type="http://schemas.openxmlformats.org/officeDocument/2006/relationships/image"/><Relationship Id="rId9" Target="../media/image29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Relationship Id="rId3" Target="../media/image31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32.png" Type="http://schemas.openxmlformats.org/officeDocument/2006/relationships/image"/><Relationship Id="rId7" Target="../media/image33.svg" Type="http://schemas.openxmlformats.org/officeDocument/2006/relationships/image"/><Relationship Id="rId8" Target="../media/image34.png" Type="http://schemas.openxmlformats.org/officeDocument/2006/relationships/image"/><Relationship Id="rId9" Target="../media/image35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.png" Type="http://schemas.openxmlformats.org/officeDocument/2006/relationships/image"/><Relationship Id="rId7" Target="../media/image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366517">
            <a:off x="8172982" y="-1473762"/>
            <a:ext cx="12307770" cy="7200900"/>
          </a:xfrm>
          <a:custGeom>
            <a:avLst/>
            <a:gdLst/>
            <a:ahLst/>
            <a:cxnLst/>
            <a:rect r="r" b="b" t="t" l="l"/>
            <a:pathLst>
              <a:path h="7200900" w="12307770">
                <a:moveTo>
                  <a:pt x="0" y="0"/>
                </a:moveTo>
                <a:lnTo>
                  <a:pt x="12307770" y="0"/>
                </a:lnTo>
                <a:lnTo>
                  <a:pt x="12307770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493551">
            <a:off x="-3091661" y="3509943"/>
            <a:ext cx="15325477" cy="8242765"/>
          </a:xfrm>
          <a:custGeom>
            <a:avLst/>
            <a:gdLst/>
            <a:ahLst/>
            <a:cxnLst/>
            <a:rect r="r" b="b" t="t" l="l"/>
            <a:pathLst>
              <a:path h="8242765" w="15325477">
                <a:moveTo>
                  <a:pt x="0" y="0"/>
                </a:moveTo>
                <a:lnTo>
                  <a:pt x="15325477" y="0"/>
                </a:lnTo>
                <a:lnTo>
                  <a:pt x="15325477" y="8242765"/>
                </a:lnTo>
                <a:lnTo>
                  <a:pt x="0" y="82427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350042" y="349542"/>
            <a:ext cx="9587917" cy="9587917"/>
          </a:xfrm>
          <a:custGeom>
            <a:avLst/>
            <a:gdLst/>
            <a:ahLst/>
            <a:cxnLst/>
            <a:rect r="r" b="b" t="t" l="l"/>
            <a:pathLst>
              <a:path h="9587917" w="9587917">
                <a:moveTo>
                  <a:pt x="0" y="0"/>
                </a:moveTo>
                <a:lnTo>
                  <a:pt x="9587916" y="0"/>
                </a:lnTo>
                <a:lnTo>
                  <a:pt x="9587916" y="9587916"/>
                </a:lnTo>
                <a:lnTo>
                  <a:pt x="0" y="958791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154785" y="1120395"/>
            <a:ext cx="13706124" cy="5259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58"/>
              </a:lnSpc>
            </a:pPr>
            <a:r>
              <a:rPr lang="en-US" b="true" sz="14255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A NOSSA ESCOLA É REDE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348797" y="6265582"/>
            <a:ext cx="5318100" cy="600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36"/>
              </a:lnSpc>
            </a:pPr>
            <a:r>
              <a:rPr lang="en-US" sz="3200" spc="74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PRESENTATION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433588" y="5806884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664621" y="-753127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916641" y="3304523"/>
            <a:ext cx="6342659" cy="4114800"/>
          </a:xfrm>
          <a:custGeom>
            <a:avLst/>
            <a:gdLst/>
            <a:ahLst/>
            <a:cxnLst/>
            <a:rect r="r" b="b" t="t" l="l"/>
            <a:pathLst>
              <a:path h="4114800" w="6342659">
                <a:moveTo>
                  <a:pt x="0" y="0"/>
                </a:moveTo>
                <a:lnTo>
                  <a:pt x="6342659" y="0"/>
                </a:lnTo>
                <a:lnTo>
                  <a:pt x="634265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99882" y="885825"/>
            <a:ext cx="7844118" cy="3530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2993"/>
              </a:lnSpc>
            </a:pPr>
            <a:r>
              <a:rPr lang="en-US" sz="11498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UTILIZADORES</a:t>
            </a:r>
          </a:p>
          <a:p>
            <a:pPr algn="just">
              <a:lnSpc>
                <a:spcPts val="12993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182310" y="3877310"/>
            <a:ext cx="8613848" cy="538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Alunos → usam a internet, entregam trabalhos e imprimem documentos</a:t>
            </a:r>
          </a:p>
          <a:p>
            <a:pPr algn="ctr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Professores → partilham materiais e gerem as aulas</a:t>
            </a:r>
          </a:p>
          <a:p>
            <a:pPr algn="ctr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Funcionários → utilizam sistemas administrativos</a:t>
            </a:r>
          </a:p>
          <a:p>
            <a:pPr algn="ctr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Técnicos de informática → mantêm e reparam a rede informática</a:t>
            </a:r>
          </a:p>
          <a:p>
            <a:pPr algn="ctr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592224" y="-3732007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917121" y="4900273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22226" y="785473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22226" y="5208935"/>
            <a:ext cx="4224040" cy="4904546"/>
          </a:xfrm>
          <a:custGeom>
            <a:avLst/>
            <a:gdLst/>
            <a:ahLst/>
            <a:cxnLst/>
            <a:rect r="r" b="b" t="t" l="l"/>
            <a:pathLst>
              <a:path h="4904546" w="4224040">
                <a:moveTo>
                  <a:pt x="0" y="0"/>
                </a:moveTo>
                <a:lnTo>
                  <a:pt x="4224040" y="0"/>
                </a:lnTo>
                <a:lnTo>
                  <a:pt x="4224040" y="4904546"/>
                </a:lnTo>
                <a:lnTo>
                  <a:pt x="0" y="49045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29585" y="895350"/>
            <a:ext cx="10770852" cy="16403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1221"/>
              </a:lnSpc>
            </a:pPr>
            <a:r>
              <a:rPr lang="en-US" sz="993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SEGURANÇA DA REDE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428529" y="2734820"/>
            <a:ext cx="8830771" cy="6523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27562" indent="-363781" lvl="1">
              <a:lnSpc>
                <a:spcPts val="4717"/>
              </a:lnSpc>
              <a:buAutoNum type="arabicPeriod" startAt="1"/>
            </a:pPr>
            <a:r>
              <a:rPr lang="en-US" sz="336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Palavras-passe fortes → tornam as contas mais difíceis de invadir.</a:t>
            </a:r>
          </a:p>
          <a:p>
            <a:pPr algn="l">
              <a:lnSpc>
                <a:spcPts val="4717"/>
              </a:lnSpc>
            </a:pPr>
          </a:p>
          <a:p>
            <a:pPr algn="l">
              <a:lnSpc>
                <a:spcPts val="4717"/>
              </a:lnSpc>
            </a:pPr>
            <a:r>
              <a:rPr lang="en-US" sz="336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  2.</a:t>
            </a:r>
            <a:r>
              <a:rPr lang="en-US" sz="336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Login de utilizador (autenticação) → confirma a identidade do utilizador.</a:t>
            </a:r>
          </a:p>
          <a:p>
            <a:pPr algn="l">
              <a:lnSpc>
                <a:spcPts val="4717"/>
              </a:lnSpc>
            </a:pPr>
          </a:p>
          <a:p>
            <a:pPr algn="l">
              <a:lnSpc>
                <a:spcPts val="4717"/>
              </a:lnSpc>
            </a:pPr>
            <a:r>
              <a:rPr lang="en-US" sz="336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 3.</a:t>
            </a:r>
            <a:r>
              <a:rPr lang="en-US" sz="336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Firewalls → bloqueiam acessos perigosos ou não autorizados.</a:t>
            </a:r>
          </a:p>
          <a:p>
            <a:pPr algn="l">
              <a:lnSpc>
                <a:spcPts val="4717"/>
              </a:lnSpc>
            </a:pPr>
          </a:p>
          <a:p>
            <a:pPr algn="l">
              <a:lnSpc>
                <a:spcPts val="4717"/>
              </a:lnSpc>
            </a:pPr>
            <a:r>
              <a:rPr lang="en-US" sz="336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 4.</a:t>
            </a:r>
            <a:r>
              <a:rPr lang="en-US" sz="336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Não partilhar palavras-passe → mantém as contas seguras e privadas.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43425" y="542925"/>
            <a:ext cx="9201150" cy="9201150"/>
          </a:xfrm>
          <a:custGeom>
            <a:avLst/>
            <a:gdLst/>
            <a:ahLst/>
            <a:cxnLst/>
            <a:rect r="r" b="b" t="t" l="l"/>
            <a:pathLst>
              <a:path h="9201150" w="9201150">
                <a:moveTo>
                  <a:pt x="0" y="0"/>
                </a:moveTo>
                <a:lnTo>
                  <a:pt x="9201150" y="0"/>
                </a:lnTo>
                <a:lnTo>
                  <a:pt x="9201150" y="9201150"/>
                </a:lnTo>
                <a:lnTo>
                  <a:pt x="0" y="92011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783217" y="-964573"/>
            <a:ext cx="4952166" cy="4114800"/>
          </a:xfrm>
          <a:custGeom>
            <a:avLst/>
            <a:gdLst/>
            <a:ahLst/>
            <a:cxnLst/>
            <a:rect r="r" b="b" t="t" l="l"/>
            <a:pathLst>
              <a:path h="4114800" w="4952166">
                <a:moveTo>
                  <a:pt x="0" y="0"/>
                </a:moveTo>
                <a:lnTo>
                  <a:pt x="4952166" y="0"/>
                </a:lnTo>
                <a:lnTo>
                  <a:pt x="495216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72368" y="771430"/>
            <a:ext cx="2379848" cy="2165185"/>
          </a:xfrm>
          <a:custGeom>
            <a:avLst/>
            <a:gdLst/>
            <a:ahLst/>
            <a:cxnLst/>
            <a:rect r="r" b="b" t="t" l="l"/>
            <a:pathLst>
              <a:path h="2165185" w="2379848">
                <a:moveTo>
                  <a:pt x="0" y="0"/>
                </a:moveTo>
                <a:lnTo>
                  <a:pt x="2379848" y="0"/>
                </a:lnTo>
                <a:lnTo>
                  <a:pt x="2379848" y="2165185"/>
                </a:lnTo>
                <a:lnTo>
                  <a:pt x="0" y="21651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356" t="-2490" r="-1561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79030" y="4066180"/>
            <a:ext cx="2533121" cy="2146820"/>
          </a:xfrm>
          <a:custGeom>
            <a:avLst/>
            <a:gdLst/>
            <a:ahLst/>
            <a:cxnLst/>
            <a:rect r="r" b="b" t="t" l="l"/>
            <a:pathLst>
              <a:path h="2146820" w="2533121">
                <a:moveTo>
                  <a:pt x="0" y="0"/>
                </a:moveTo>
                <a:lnTo>
                  <a:pt x="2533121" y="0"/>
                </a:lnTo>
                <a:lnTo>
                  <a:pt x="2533121" y="2146820"/>
                </a:lnTo>
                <a:lnTo>
                  <a:pt x="0" y="214682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916024" y="7120460"/>
            <a:ext cx="2712178" cy="2357616"/>
          </a:xfrm>
          <a:prstGeom prst="rect">
            <a:avLst/>
          </a:prstGeom>
        </p:spPr>
      </p:pic>
      <p:grpSp>
        <p:nvGrpSpPr>
          <p:cNvPr name="Group 7" id="7"/>
          <p:cNvGrpSpPr/>
          <p:nvPr/>
        </p:nvGrpSpPr>
        <p:grpSpPr>
          <a:xfrm rot="0">
            <a:off x="5981133" y="7005554"/>
            <a:ext cx="2861951" cy="2861951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11588439" y="7152685"/>
            <a:ext cx="1816286" cy="2591390"/>
          </a:xfrm>
          <a:custGeom>
            <a:avLst/>
            <a:gdLst/>
            <a:ahLst/>
            <a:cxnLst/>
            <a:rect r="r" b="b" t="t" l="l"/>
            <a:pathLst>
              <a:path h="2591390" w="1816286">
                <a:moveTo>
                  <a:pt x="0" y="0"/>
                </a:moveTo>
                <a:lnTo>
                  <a:pt x="1816286" y="0"/>
                </a:lnTo>
                <a:lnTo>
                  <a:pt x="1816286" y="2591390"/>
                </a:lnTo>
                <a:lnTo>
                  <a:pt x="0" y="259139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2501" r="0" b="-2501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5657138" y="409575"/>
            <a:ext cx="6640906" cy="30011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RECURSOS</a:t>
            </a:r>
          </a:p>
          <a:p>
            <a:pPr algn="ctr">
              <a:lnSpc>
                <a:spcPts val="11000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6549211" y="1929220"/>
            <a:ext cx="8778573" cy="4907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9719" indent="-304860" lvl="1">
              <a:lnSpc>
                <a:spcPts val="3953"/>
              </a:lnSpc>
              <a:buAutoNum type="arabicPeriod" startAt="1"/>
            </a:pPr>
            <a:r>
              <a:rPr lang="en-US" sz="282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Impressoras → permitem imprimir documentos.</a:t>
            </a:r>
          </a:p>
          <a:p>
            <a:pPr algn="l" marL="609719" indent="-304860" lvl="1">
              <a:lnSpc>
                <a:spcPts val="3953"/>
              </a:lnSpc>
              <a:buAutoNum type="arabicPeriod" startAt="1"/>
            </a:pPr>
            <a:r>
              <a:rPr lang="en-US" sz="282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Acesso à internet → permite pesquisar e comunicar online. </a:t>
            </a:r>
          </a:p>
          <a:p>
            <a:pPr algn="l" marL="609719" indent="-304860" lvl="1">
              <a:lnSpc>
                <a:spcPts val="3953"/>
              </a:lnSpc>
              <a:buAutoNum type="arabicPeriod" startAt="1"/>
            </a:pPr>
            <a:r>
              <a:rPr lang="en-US" sz="282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Ficheiros (pastas partilhadas) → facilitam a partilha de documentos.</a:t>
            </a:r>
          </a:p>
          <a:p>
            <a:pPr algn="l" marL="609719" indent="-304860" lvl="1">
              <a:lnSpc>
                <a:spcPts val="3953"/>
              </a:lnSpc>
              <a:buAutoNum type="arabicPeriod" startAt="1"/>
            </a:pPr>
            <a:r>
              <a:rPr lang="en-US" sz="282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Plataformas escolares (ex: Moodle, Google Classroom) → ajudam nas aulas e nos trabalhos.</a:t>
            </a:r>
          </a:p>
          <a:p>
            <a:pPr algn="l" marL="609719" indent="-304860" lvl="1">
              <a:lnSpc>
                <a:spcPts val="3953"/>
              </a:lnSpc>
              <a:buAutoNum type="arabicPeriod" startAt="1"/>
            </a:pPr>
            <a:r>
              <a:rPr lang="en-US" sz="282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Computadores/servidores → armazenam e gerem informações da rede.</a:t>
            </a:r>
          </a:p>
          <a:p>
            <a:pPr algn="l">
              <a:lnSpc>
                <a:spcPts val="3953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234650" y="-611891"/>
            <a:ext cx="4609246" cy="4114800"/>
          </a:xfrm>
          <a:custGeom>
            <a:avLst/>
            <a:gdLst/>
            <a:ahLst/>
            <a:cxnLst/>
            <a:rect r="r" b="b" t="t" l="l"/>
            <a:pathLst>
              <a:path h="4114800" w="4609246">
                <a:moveTo>
                  <a:pt x="0" y="0"/>
                </a:moveTo>
                <a:lnTo>
                  <a:pt x="4609247" y="0"/>
                </a:lnTo>
                <a:lnTo>
                  <a:pt x="460924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543425" y="542925"/>
            <a:ext cx="9201150" cy="9201150"/>
          </a:xfrm>
          <a:custGeom>
            <a:avLst/>
            <a:gdLst/>
            <a:ahLst/>
            <a:cxnLst/>
            <a:rect r="r" b="b" t="t" l="l"/>
            <a:pathLst>
              <a:path h="9201150" w="9201150">
                <a:moveTo>
                  <a:pt x="0" y="0"/>
                </a:moveTo>
                <a:lnTo>
                  <a:pt x="9201150" y="0"/>
                </a:lnTo>
                <a:lnTo>
                  <a:pt x="9201150" y="9201150"/>
                </a:lnTo>
                <a:lnTo>
                  <a:pt x="0" y="920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46903" y="1914677"/>
            <a:ext cx="3406396" cy="3176464"/>
          </a:xfrm>
          <a:custGeom>
            <a:avLst/>
            <a:gdLst/>
            <a:ahLst/>
            <a:cxnLst/>
            <a:rect r="r" b="b" t="t" l="l"/>
            <a:pathLst>
              <a:path h="3176464" w="3406396">
                <a:moveTo>
                  <a:pt x="0" y="0"/>
                </a:moveTo>
                <a:lnTo>
                  <a:pt x="3406395" y="0"/>
                </a:lnTo>
                <a:lnTo>
                  <a:pt x="3406395" y="3176464"/>
                </a:lnTo>
                <a:lnTo>
                  <a:pt x="0" y="317646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827263" y="6150640"/>
            <a:ext cx="3045675" cy="2532389"/>
          </a:xfrm>
          <a:custGeom>
            <a:avLst/>
            <a:gdLst/>
            <a:ahLst/>
            <a:cxnLst/>
            <a:rect r="r" b="b" t="t" l="l"/>
            <a:pathLst>
              <a:path h="2532389" w="3045675">
                <a:moveTo>
                  <a:pt x="0" y="0"/>
                </a:moveTo>
                <a:lnTo>
                  <a:pt x="3045675" y="0"/>
                </a:lnTo>
                <a:lnTo>
                  <a:pt x="3045675" y="2532389"/>
                </a:lnTo>
                <a:lnTo>
                  <a:pt x="0" y="253238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076" t="-3047" r="-1076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631344" y="1905304"/>
            <a:ext cx="9113231" cy="3773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52"/>
              </a:lnSpc>
            </a:pPr>
            <a:r>
              <a:rPr lang="en-US" sz="8365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⚠️ PROBLEMAS &amp; SOLUÇÕES</a:t>
            </a:r>
          </a:p>
          <a:p>
            <a:pPr algn="ctr">
              <a:lnSpc>
                <a:spcPts val="9452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7214885" y="4533455"/>
            <a:ext cx="9885395" cy="4331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2"/>
              </a:lnSpc>
            </a:pPr>
            <a:r>
              <a:rPr lang="en-US" sz="3573" b="true">
                <a:solidFill>
                  <a:srgbClr val="FAF9FB"/>
                </a:solidFill>
                <a:latin typeface="Arimo Bold"/>
                <a:ea typeface="Arimo Bold"/>
                <a:cs typeface="Arimo Bold"/>
                <a:sym typeface="Arimo Bold"/>
              </a:rPr>
              <a:t>100 pessoas a imprimir ao mesmo tempo</a:t>
            </a:r>
          </a:p>
          <a:p>
            <a:pPr algn="l">
              <a:lnSpc>
                <a:spcPts val="5002"/>
              </a:lnSpc>
            </a:pPr>
            <a:r>
              <a:rPr lang="en-US" sz="3573" b="true">
                <a:solidFill>
                  <a:srgbClr val="FAF9FB"/>
                </a:solidFill>
                <a:latin typeface="Arimo Bold"/>
                <a:ea typeface="Arimo Bold"/>
                <a:cs typeface="Arimo Bold"/>
                <a:sym typeface="Arimo Bold"/>
              </a:rPr>
              <a:t>Problema:</a:t>
            </a:r>
            <a:r>
              <a:rPr lang="en-US" sz="3573">
                <a:solidFill>
                  <a:srgbClr val="FAF9FB"/>
                </a:solidFill>
                <a:latin typeface="Arimo"/>
                <a:ea typeface="Arimo"/>
                <a:cs typeface="Arimo"/>
                <a:sym typeface="Arimo"/>
              </a:rPr>
              <a:t> a impressora fica lenta ou bloqueia</a:t>
            </a:r>
          </a:p>
          <a:p>
            <a:pPr algn="l">
              <a:lnSpc>
                <a:spcPts val="5002"/>
              </a:lnSpc>
            </a:pPr>
            <a:r>
              <a:rPr lang="en-US" sz="3573" b="true">
                <a:solidFill>
                  <a:srgbClr val="FAF9FB"/>
                </a:solidFill>
                <a:latin typeface="Arimo Bold"/>
                <a:ea typeface="Arimo Bold"/>
                <a:cs typeface="Arimo Bold"/>
                <a:sym typeface="Arimo Bold"/>
              </a:rPr>
              <a:t>Soluções:</a:t>
            </a:r>
          </a:p>
          <a:p>
            <a:pPr algn="l" marL="771444" indent="-385722" lvl="1">
              <a:lnSpc>
                <a:spcPts val="5002"/>
              </a:lnSpc>
              <a:buFont typeface="Arial"/>
              <a:buChar char="•"/>
            </a:pPr>
            <a:r>
              <a:rPr lang="en-US" sz="3573">
                <a:solidFill>
                  <a:srgbClr val="FAF9FB"/>
                </a:solidFill>
                <a:latin typeface="Arimo"/>
                <a:ea typeface="Arimo"/>
                <a:cs typeface="Arimo"/>
                <a:sym typeface="Arimo"/>
              </a:rPr>
              <a:t>Fila de impressão (print queue)</a:t>
            </a:r>
          </a:p>
          <a:p>
            <a:pPr algn="l" marL="771444" indent="-385722" lvl="1">
              <a:lnSpc>
                <a:spcPts val="5002"/>
              </a:lnSpc>
              <a:buFont typeface="Arial"/>
              <a:buChar char="•"/>
            </a:pPr>
            <a:r>
              <a:rPr lang="en-US" sz="3573">
                <a:solidFill>
                  <a:srgbClr val="FAF9FB"/>
                </a:solidFill>
                <a:latin typeface="Arimo"/>
                <a:ea typeface="Arimo"/>
                <a:cs typeface="Arimo"/>
                <a:sym typeface="Arimo"/>
              </a:rPr>
              <a:t>Limitar número de impressões</a:t>
            </a:r>
          </a:p>
          <a:p>
            <a:pPr algn="l" marL="771444" indent="-385722" lvl="1">
              <a:lnSpc>
                <a:spcPts val="5002"/>
              </a:lnSpc>
              <a:buFont typeface="Arial"/>
              <a:buChar char="•"/>
            </a:pPr>
            <a:r>
              <a:rPr lang="en-US" sz="3573">
                <a:solidFill>
                  <a:srgbClr val="FAF9FB"/>
                </a:solidFill>
                <a:latin typeface="Arimo"/>
                <a:ea typeface="Arimo"/>
                <a:cs typeface="Arimo"/>
                <a:sym typeface="Arimo"/>
              </a:rPr>
              <a:t>Ter várias impressoras</a:t>
            </a:r>
          </a:p>
          <a:p>
            <a:pPr algn="l">
              <a:lnSpc>
                <a:spcPts val="5002"/>
              </a:lnSpc>
            </a:pPr>
          </a:p>
        </p:txBody>
      </p:sp>
      <p:sp>
        <p:nvSpPr>
          <p:cNvPr name="AutoShape 8" id="8"/>
          <p:cNvSpPr/>
          <p:nvPr/>
        </p:nvSpPr>
        <p:spPr>
          <a:xfrm flipV="true">
            <a:off x="5060757" y="7159725"/>
            <a:ext cx="2154128" cy="741141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9" id="9"/>
          <p:cNvSpPr/>
          <p:nvPr/>
        </p:nvSpPr>
        <p:spPr>
          <a:xfrm>
            <a:off x="5368396" y="4220685"/>
            <a:ext cx="1560475" cy="741278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07796" y="-3767991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373883" y="5552449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150501" y="2011184"/>
            <a:ext cx="2885646" cy="3132316"/>
          </a:xfrm>
          <a:custGeom>
            <a:avLst/>
            <a:gdLst/>
            <a:ahLst/>
            <a:cxnLst/>
            <a:rect r="r" b="b" t="t" l="l"/>
            <a:pathLst>
              <a:path h="3132316" w="2885646">
                <a:moveTo>
                  <a:pt x="0" y="0"/>
                </a:moveTo>
                <a:lnTo>
                  <a:pt x="2885646" y="0"/>
                </a:lnTo>
                <a:lnTo>
                  <a:pt x="2885646" y="3132316"/>
                </a:lnTo>
                <a:lnTo>
                  <a:pt x="0" y="313231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510925" y="6163737"/>
            <a:ext cx="2525222" cy="2247447"/>
          </a:xfrm>
          <a:custGeom>
            <a:avLst/>
            <a:gdLst/>
            <a:ahLst/>
            <a:cxnLst/>
            <a:rect r="r" b="b" t="t" l="l"/>
            <a:pathLst>
              <a:path h="2247447" w="2525222">
                <a:moveTo>
                  <a:pt x="0" y="0"/>
                </a:moveTo>
                <a:lnTo>
                  <a:pt x="2525222" y="0"/>
                </a:lnTo>
                <a:lnTo>
                  <a:pt x="2525222" y="2247448"/>
                </a:lnTo>
                <a:lnTo>
                  <a:pt x="0" y="224744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587679" y="-561760"/>
            <a:ext cx="19463357" cy="10948139"/>
          </a:xfrm>
          <a:custGeom>
            <a:avLst/>
            <a:gdLst/>
            <a:ahLst/>
            <a:cxnLst/>
            <a:rect r="r" b="b" t="t" l="l"/>
            <a:pathLst>
              <a:path h="10948139" w="19463357">
                <a:moveTo>
                  <a:pt x="0" y="0"/>
                </a:moveTo>
                <a:lnTo>
                  <a:pt x="19463358" y="0"/>
                </a:lnTo>
                <a:lnTo>
                  <a:pt x="19463358" y="10948138"/>
                </a:lnTo>
                <a:lnTo>
                  <a:pt x="0" y="109481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8080924" y="895350"/>
            <a:ext cx="6640906" cy="4391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🔑 SENHA ROUBADA</a:t>
            </a:r>
          </a:p>
          <a:p>
            <a:pPr algn="ctr">
              <a:lnSpc>
                <a:spcPts val="11000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7389729" y="4039768"/>
            <a:ext cx="9532756" cy="38048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63"/>
              </a:lnSpc>
            </a:pPr>
            <a:r>
              <a:rPr lang="en-US" sz="361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Problema: acesso indevido à conta</a:t>
            </a:r>
          </a:p>
          <a:p>
            <a:pPr algn="ctr">
              <a:lnSpc>
                <a:spcPts val="5063"/>
              </a:lnSpc>
            </a:pPr>
            <a:r>
              <a:rPr lang="en-US" sz="361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Soluções:</a:t>
            </a:r>
          </a:p>
          <a:p>
            <a:pPr algn="ctr" marL="780875" indent="-390438" lvl="1">
              <a:lnSpc>
                <a:spcPts val="5063"/>
              </a:lnSpc>
              <a:buFont typeface="Arial"/>
              <a:buChar char="•"/>
            </a:pPr>
            <a:r>
              <a:rPr lang="en-US" sz="361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Trocar password imediatamente</a:t>
            </a:r>
          </a:p>
          <a:p>
            <a:pPr algn="ctr" marL="780875" indent="-390438" lvl="1">
              <a:lnSpc>
                <a:spcPts val="5063"/>
              </a:lnSpc>
              <a:buFont typeface="Arial"/>
              <a:buChar char="•"/>
            </a:pPr>
            <a:r>
              <a:rPr lang="en-US" sz="361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Usar autenticação em dois fatores (2FA)</a:t>
            </a:r>
          </a:p>
          <a:p>
            <a:pPr algn="ctr" marL="780875" indent="-390438" lvl="1">
              <a:lnSpc>
                <a:spcPts val="5063"/>
              </a:lnSpc>
              <a:buFont typeface="Arial"/>
              <a:buChar char="•"/>
            </a:pPr>
            <a:r>
              <a:rPr lang="en-US" sz="361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Não partilhar senhas</a:t>
            </a:r>
          </a:p>
          <a:p>
            <a:pPr algn="ctr">
              <a:lnSpc>
                <a:spcPts val="5063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021255">
            <a:off x="751200" y="6640071"/>
            <a:ext cx="4259304" cy="8050231"/>
          </a:xfrm>
          <a:custGeom>
            <a:avLst/>
            <a:gdLst/>
            <a:ahLst/>
            <a:cxnLst/>
            <a:rect r="r" b="b" t="t" l="l"/>
            <a:pathLst>
              <a:path h="8050231" w="4259304">
                <a:moveTo>
                  <a:pt x="0" y="0"/>
                </a:moveTo>
                <a:lnTo>
                  <a:pt x="4259304" y="0"/>
                </a:lnTo>
                <a:lnTo>
                  <a:pt x="4259304" y="8050231"/>
                </a:lnTo>
                <a:lnTo>
                  <a:pt x="0" y="8050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14653509" y="6210424"/>
            <a:ext cx="4259304" cy="8050231"/>
          </a:xfrm>
          <a:custGeom>
            <a:avLst/>
            <a:gdLst/>
            <a:ahLst/>
            <a:cxnLst/>
            <a:rect r="r" b="b" t="t" l="l"/>
            <a:pathLst>
              <a:path h="8050231" w="4259304">
                <a:moveTo>
                  <a:pt x="0" y="0"/>
                </a:moveTo>
                <a:lnTo>
                  <a:pt x="4259304" y="0"/>
                </a:lnTo>
                <a:lnTo>
                  <a:pt x="4259304" y="8050231"/>
                </a:lnTo>
                <a:lnTo>
                  <a:pt x="0" y="8050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184310" y="-833428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037247" y="-3693869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003553" y="736692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200087" y="5358537"/>
            <a:ext cx="4064044" cy="2240304"/>
          </a:xfrm>
          <a:custGeom>
            <a:avLst/>
            <a:gdLst/>
            <a:ahLst/>
            <a:cxnLst/>
            <a:rect r="r" b="b" t="t" l="l"/>
            <a:pathLst>
              <a:path h="2240304" w="4064044">
                <a:moveTo>
                  <a:pt x="0" y="0"/>
                </a:moveTo>
                <a:lnTo>
                  <a:pt x="4064044" y="0"/>
                </a:lnTo>
                <a:lnTo>
                  <a:pt x="4064044" y="2240305"/>
                </a:lnTo>
                <a:lnTo>
                  <a:pt x="0" y="224030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9640238" y="914400"/>
            <a:ext cx="7619062" cy="3937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74"/>
              </a:lnSpc>
            </a:pPr>
            <a:r>
              <a:rPr lang="en-US" sz="8738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 SENHA 🌐 INTERNET LENTA</a:t>
            </a:r>
          </a:p>
          <a:p>
            <a:pPr algn="ctr">
              <a:lnSpc>
                <a:spcPts val="9874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9144000" y="3612948"/>
            <a:ext cx="7874932" cy="4492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21"/>
              </a:lnSpc>
            </a:pPr>
            <a:r>
              <a:rPr lang="en-US" sz="365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Problema: re</a:t>
            </a:r>
            <a:r>
              <a:rPr lang="en-US" sz="365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congestionada</a:t>
            </a:r>
          </a:p>
          <a:p>
            <a:pPr algn="ctr">
              <a:lnSpc>
                <a:spcPts val="5121"/>
              </a:lnSpc>
            </a:pPr>
            <a:r>
              <a:rPr lang="en-US" sz="365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Soluções:</a:t>
            </a:r>
          </a:p>
          <a:p>
            <a:pPr algn="ctr" marL="789745" indent="-394872" lvl="1">
              <a:lnSpc>
                <a:spcPts val="5121"/>
              </a:lnSpc>
              <a:buFont typeface="Arial"/>
              <a:buChar char="•"/>
            </a:pPr>
            <a:r>
              <a:rPr lang="en-US" sz="365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Limitar downloads pesados</a:t>
            </a:r>
          </a:p>
          <a:p>
            <a:pPr algn="ctr" marL="789745" indent="-394872" lvl="1">
              <a:lnSpc>
                <a:spcPts val="5121"/>
              </a:lnSpc>
              <a:buFont typeface="Arial"/>
              <a:buChar char="•"/>
            </a:pPr>
            <a:r>
              <a:rPr lang="en-US" sz="365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Melhorar largura de banda</a:t>
            </a:r>
          </a:p>
          <a:p>
            <a:pPr algn="ctr" marL="789745" indent="-394872" lvl="1">
              <a:lnSpc>
                <a:spcPts val="5121"/>
              </a:lnSpc>
              <a:buFont typeface="Arial"/>
              <a:buChar char="•"/>
            </a:pPr>
            <a:r>
              <a:rPr lang="en-US" sz="365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Usar routers/switches melhores</a:t>
            </a:r>
          </a:p>
          <a:p>
            <a:pPr algn="ctr" marL="789745" indent="-394872" lvl="1">
              <a:lnSpc>
                <a:spcPts val="5121"/>
              </a:lnSpc>
              <a:buFont typeface="Arial"/>
              <a:buChar char="•"/>
            </a:pPr>
            <a:r>
              <a:rPr lang="en-US" sz="3657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Priorizar tráfego importante</a:t>
            </a:r>
          </a:p>
          <a:p>
            <a:pPr algn="ctr">
              <a:lnSpc>
                <a:spcPts val="5121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802147" y="6367249"/>
            <a:ext cx="9201150" cy="9201150"/>
          </a:xfrm>
          <a:custGeom>
            <a:avLst/>
            <a:gdLst/>
            <a:ahLst/>
            <a:cxnLst/>
            <a:rect r="r" b="b" t="t" l="l"/>
            <a:pathLst>
              <a:path h="9201150" w="9201150">
                <a:moveTo>
                  <a:pt x="0" y="0"/>
                </a:moveTo>
                <a:lnTo>
                  <a:pt x="9201150" y="0"/>
                </a:lnTo>
                <a:lnTo>
                  <a:pt x="9201150" y="9201150"/>
                </a:lnTo>
                <a:lnTo>
                  <a:pt x="0" y="92011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2578375">
            <a:off x="8323700" y="-4291982"/>
            <a:ext cx="15959856" cy="8583964"/>
          </a:xfrm>
          <a:custGeom>
            <a:avLst/>
            <a:gdLst/>
            <a:ahLst/>
            <a:cxnLst/>
            <a:rect r="r" b="b" t="t" l="l"/>
            <a:pathLst>
              <a:path h="8583964" w="15959856">
                <a:moveTo>
                  <a:pt x="0" y="0"/>
                </a:moveTo>
                <a:lnTo>
                  <a:pt x="15959857" y="0"/>
                </a:lnTo>
                <a:lnTo>
                  <a:pt x="15959857" y="8583964"/>
                </a:lnTo>
                <a:lnTo>
                  <a:pt x="0" y="858396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984372" y="3726507"/>
            <a:ext cx="14319257" cy="2548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851"/>
              </a:lnSpc>
            </a:pPr>
            <a:r>
              <a:rPr lang="en-US" sz="1489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OBRIGADO!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1366517">
            <a:off x="-1768901" y="4979430"/>
            <a:ext cx="12307770" cy="7200900"/>
          </a:xfrm>
          <a:custGeom>
            <a:avLst/>
            <a:gdLst/>
            <a:ahLst/>
            <a:cxnLst/>
            <a:rect r="r" b="b" t="t" l="l"/>
            <a:pathLst>
              <a:path h="7200900" w="12307770">
                <a:moveTo>
                  <a:pt x="0" y="0"/>
                </a:moveTo>
                <a:lnTo>
                  <a:pt x="12307770" y="0"/>
                </a:lnTo>
                <a:lnTo>
                  <a:pt x="12307770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3581708" y="8126191"/>
            <a:ext cx="5443840" cy="1464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00"/>
              </a:lnSpc>
            </a:pPr>
            <a:r>
              <a:rPr lang="en-US" sz="40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Pukar</a:t>
            </a:r>
          </a:p>
          <a:p>
            <a:pPr algn="ctr">
              <a:lnSpc>
                <a:spcPts val="6160"/>
              </a:lnSpc>
            </a:pPr>
            <a:r>
              <a:rPr lang="en-US" sz="44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Suzal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DAHI5WA6B8Q</dc:identifier>
  <dcterms:modified xsi:type="dcterms:W3CDTF">2011-08-01T06:04:30Z</dcterms:modified>
  <cp:revision>1</cp:revision>
  <dc:title>Black and White Modern Tech Company Presentation</dc:title>
</cp:coreProperties>
</file>